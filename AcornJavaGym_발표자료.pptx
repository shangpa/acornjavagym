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1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2332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253558"/>
          </a:solidFill>
          <a:ln w="12700">
            <a:solidFill>
              <a:srgbClr val="25355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315200" y="2560320"/>
            <a:ext cx="2560320" cy="2560320"/>
          </a:xfrm>
          <a:prstGeom prst="ellipse">
            <a:avLst/>
          </a:prstGeom>
          <a:solidFill>
            <a:srgbClr val="0A9396">
              <a:alpha val="25000"/>
            </a:srgbClr>
          </a:solidFill>
          <a:ln w="12700">
            <a:solidFill>
              <a:srgbClr val="0A939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237744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JAVA OOP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AcornJavaGym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94D2BD"/>
                </a:solidFill>
              </a:rPr>
              <a:t>헬스장 회원 관리 시스템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44074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D2BD"/>
                </a:solidFill>
              </a:rPr>
              <a:t>언어: Java  </a:t>
            </a:r>
            <a:r>
              <a:rPr lang="en-US" sz="1300" dirty="0">
                <a:solidFill>
                  <a:srgbClr val="8899AA"/>
                </a:solidFill>
              </a:rPr>
              <a:t> | </a:t>
            </a:r>
            <a:r>
              <a:rPr lang="en-US" sz="1300" dirty="0">
                <a:solidFill>
                  <a:srgbClr val="FFFFFF"/>
                </a:solidFill>
              </a:rPr>
              <a:t>  실행 방식: 콘솔 기반 텍스트 UI  </a:t>
            </a:r>
            <a:r>
              <a:rPr lang="en-US" sz="1300" dirty="0">
                <a:solidFill>
                  <a:srgbClr val="8899AA"/>
                </a:solidFill>
              </a:rPr>
              <a:t> | </a:t>
            </a:r>
            <a:r>
              <a:rPr lang="en-US" sz="1300" dirty="0">
                <a:solidFill>
                  <a:srgbClr val="FFFFFF"/>
                </a:solidFill>
              </a:rPr>
              <a:t>  OOP 4원칙 완전 적용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프로젝트 개요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920240" cy="2743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☕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899AA"/>
                </a:solidFill>
              </a:rPr>
              <a:t>언어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468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</a:rPr>
              <a:t>Java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880" y="114300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468880" y="1143000"/>
            <a:ext cx="1920240" cy="2743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468880" y="1508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68880" y="2148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899AA"/>
                </a:solidFill>
              </a:rPr>
              <a:t>실행 방식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468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</a:rPr>
              <a:t>콘솔 텍스트 UI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17720" y="114300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617720" y="1143000"/>
            <a:ext cx="1920240" cy="2743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617720" y="1508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17720" y="2148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899AA"/>
                </a:solidFill>
              </a:rPr>
              <a:t>주요 대상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2468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</a:rPr>
              <a:t>회원 · 트레이너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66560" y="114300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766560" y="1143000"/>
            <a:ext cx="1920240" cy="2743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766560" y="1508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766560" y="2148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899AA"/>
                </a:solidFill>
              </a:rPr>
              <a:t>핵심 설계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2468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</a:rPr>
              <a:t>OOP 4원칙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0040" y="3383280"/>
            <a:ext cx="8503920" cy="1371600"/>
          </a:xfrm>
          <a:prstGeom prst="rect">
            <a:avLst/>
          </a:prstGeom>
          <a:solidFill>
            <a:srgbClr val="253558"/>
          </a:solidFill>
          <a:ln w="12700">
            <a:solidFill>
              <a:srgbClr val="25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20040" y="3383280"/>
            <a:ext cx="109728" cy="13716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48640" y="3429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D2BD"/>
                </a:solidFill>
              </a:rPr>
              <a:t>프로젝트 목적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794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헬스장의 회원 등록/결제/출석 관리, 트레이너 배정 및 식단 추천, 운동 기구 안내 등 헬스장 운영에 필요한 핵심 기능을 Java OOP 기반으로 구현한 콘솔 관리 시스템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OOP 4원칙 적용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60520" cy="1737360"/>
          </a:xfrm>
          <a:prstGeom prst="rect">
            <a:avLst/>
          </a:prstGeom>
          <a:solidFill>
            <a:srgbClr val="253558"/>
          </a:solidFill>
          <a:ln w="254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09728" cy="17373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🧬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88720" y="12344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9396"/>
                </a:solidFill>
              </a:rPr>
              <a:t>상속 (Inheritance)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69164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Person → Member, Trainer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공통 필드·메서드를 추상 기반 클래스로 정의하여 코드 재사용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4160520" cy="1737360"/>
          </a:xfrm>
          <a:prstGeom prst="rect">
            <a:avLst/>
          </a:prstGeom>
          <a:solidFill>
            <a:srgbClr val="253558"/>
          </a:solidFill>
          <a:ln w="25400">
            <a:solidFill>
              <a:srgbClr val="5B8D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109728" cy="173736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715000" y="12344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8DB8"/>
                </a:solidFill>
              </a:rPr>
              <a:t>캡슐화 (Encapsulation)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15000" y="169164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private 필드 + public getter/setter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외부에서 직접 필드 접근 불가, 메서드를 통한 안전한 접근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063240"/>
            <a:ext cx="4160520" cy="1737360"/>
          </a:xfrm>
          <a:prstGeom prst="rect">
            <a:avLst/>
          </a:prstGeom>
          <a:solidFill>
            <a:srgbClr val="253558"/>
          </a:solidFill>
          <a:ln w="25400">
            <a:solidFill>
              <a:srgbClr val="7B6F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20040" y="3063240"/>
            <a:ext cx="109728" cy="1737360"/>
          </a:xfrm>
          <a:prstGeom prst="rect">
            <a:avLst/>
          </a:prstGeom>
          <a:solidFill>
            <a:srgbClr val="7B6FA0"/>
          </a:solidFill>
          <a:ln w="12700">
            <a:solidFill>
              <a:srgbClr val="7B6F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0292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88720" y="32004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6FA0"/>
                </a:solidFill>
              </a:rPr>
              <a:t>다형성 (Polymorphism)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65760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printInfo() 추상 메서드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Member와 Trainer가 각자의 방식으로 정보 출력 구현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063240"/>
            <a:ext cx="4160520" cy="1737360"/>
          </a:xfrm>
          <a:prstGeom prst="rect">
            <a:avLst/>
          </a:prstGeom>
          <a:solidFill>
            <a:srgbClr val="253558"/>
          </a:solidFill>
          <a:ln w="25400">
            <a:solidFill>
              <a:srgbClr val="E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846320" y="3063240"/>
            <a:ext cx="109728" cy="1737360"/>
          </a:xfrm>
          <a:prstGeom prst="rect">
            <a:avLst/>
          </a:prstGeom>
          <a:solidFill>
            <a:srgbClr val="E9A84C"/>
          </a:solidFill>
          <a:ln w="12700">
            <a:solidFill>
              <a:srgbClr val="E9A84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2920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📐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715000" y="32004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A84C"/>
                </a:solidFill>
              </a:rPr>
              <a:t>추상화 (Abstraction)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15000" y="365760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4개 인터페이스로 기능 계약 분리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구현 세부사항 숨기고 필요 기능만 외부에 노출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디렉토리 구조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3749040"/>
          </a:xfrm>
          <a:prstGeom prst="rect">
            <a:avLst/>
          </a:prstGeom>
          <a:solidFill>
            <a:srgbClr val="253558"/>
          </a:solidFill>
          <a:ln w="12700">
            <a:solidFill>
              <a:srgbClr val="25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D2BD"/>
                </a:solidFill>
              </a:rPr>
              <a:t>📁 Gym/src/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Main.java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📂 interfaces/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DietManageable.java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FitnessEquipmentGuide.java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Payable.java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Registerable.java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📂 manager/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GymManager.java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📂 model/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Person.java  (abstract)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Member.java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Trainer.java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MembershipType.java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TrainerGrade.java  (enum)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46320" y="1051560"/>
            <a:ext cx="3931920" cy="822960"/>
          </a:xfrm>
          <a:prstGeom prst="rect">
            <a:avLst/>
          </a:prstGeom>
          <a:solidFill>
            <a:srgbClr val="253558"/>
          </a:solidFill>
          <a:ln w="254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109728" cy="8229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74920" y="11430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9396"/>
                </a:solidFill>
              </a:rPr>
              <a:t>interfaces/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74920" y="147218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기능 계약 정의 · 4개 인터페이스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2011680"/>
            <a:ext cx="3931920" cy="822960"/>
          </a:xfrm>
          <a:prstGeom prst="rect">
            <a:avLst/>
          </a:prstGeom>
          <a:solidFill>
            <a:srgbClr val="253558"/>
          </a:solidFill>
          <a:ln w="25400">
            <a:solidFill>
              <a:srgbClr val="5B8D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846320" y="2011680"/>
            <a:ext cx="109728" cy="82296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74920" y="21031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DB8"/>
                </a:solidFill>
              </a:rPr>
              <a:t>manager/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4920" y="243230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통합 관리자 · GymManager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971800"/>
            <a:ext cx="3931920" cy="822960"/>
          </a:xfrm>
          <a:prstGeom prst="rect">
            <a:avLst/>
          </a:prstGeom>
          <a:solidFill>
            <a:srgbClr val="253558"/>
          </a:solidFill>
          <a:ln w="25400">
            <a:solidFill>
              <a:srgbClr val="7B6F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846320" y="2971800"/>
            <a:ext cx="109728" cy="822960"/>
          </a:xfrm>
          <a:prstGeom prst="rect">
            <a:avLst/>
          </a:prstGeom>
          <a:solidFill>
            <a:srgbClr val="7B6FA0"/>
          </a:solidFill>
          <a:ln w="12700">
            <a:solidFill>
              <a:srgbClr val="7B6F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074920" y="30632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6FA0"/>
                </a:solidFill>
              </a:rPr>
              <a:t>model/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4920" y="339242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핵심 모델 클래스 · 추상·열거형 포함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977640"/>
            <a:ext cx="3931920" cy="822960"/>
          </a:xfrm>
          <a:prstGeom prst="rect">
            <a:avLst/>
          </a:prstGeom>
          <a:solidFill>
            <a:srgbClr val="253558"/>
          </a:solidFill>
          <a:ln w="25400">
            <a:solidFill>
              <a:srgbClr val="E9C4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846320" y="3977640"/>
            <a:ext cx="109728" cy="8229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74920" y="40690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C46A"/>
                </a:solidFill>
              </a:rPr>
              <a:t>Main.java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4920" y="440740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진입점 · 메뉴 UI 처리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클래스 관계 구조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920240" cy="6583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D2BD"/>
                </a:solidFill>
              </a:rPr>
              <a:t>«interface»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2984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Registerable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41448" y="1051560"/>
            <a:ext cx="1920240" cy="6583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441448" y="1051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D2BD"/>
                </a:solidFill>
              </a:rPr>
              <a:t>«interface»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41448" y="12984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Payable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08576" y="1051560"/>
            <a:ext cx="1920240" cy="6583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608576" y="1051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D2BD"/>
                </a:solidFill>
              </a:rPr>
              <a:t>«interface»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08576" y="12984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FitnessEquipmentGuide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75704" y="1051560"/>
            <a:ext cx="1920240" cy="6583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775704" y="1051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D2BD"/>
                </a:solidFill>
              </a:rPr>
              <a:t>«interface»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75704" y="12984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DietManageable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2103120"/>
            <a:ext cx="2743200" cy="777240"/>
          </a:xfrm>
          <a:prstGeom prst="rect">
            <a:avLst/>
          </a:prstGeom>
          <a:solidFill>
            <a:srgbClr val="253558"/>
          </a:solidFill>
          <a:ln w="25400">
            <a:solidFill>
              <a:srgbClr val="94D2BD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20040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D2BD"/>
                </a:solidFill>
              </a:rPr>
              <a:t>«abstract»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0" y="23591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Person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4400" y="3291840"/>
            <a:ext cx="2926080" cy="822960"/>
          </a:xfrm>
          <a:prstGeom prst="rect">
            <a:avLst/>
          </a:prstGeom>
          <a:solidFill>
            <a:srgbClr val="1B2A4A"/>
          </a:solidFill>
          <a:ln w="254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14400" y="3291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Member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36758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D2BD"/>
                </a:solidFill>
              </a:rPr>
              <a:t>Registerable · Payable · FitnessEquipmentGuide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03520" y="3291840"/>
            <a:ext cx="2926080" cy="822960"/>
          </a:xfrm>
          <a:prstGeom prst="rect">
            <a:avLst/>
          </a:prstGeom>
          <a:solidFill>
            <a:srgbClr val="1B2A4A"/>
          </a:solidFill>
          <a:ln w="25400">
            <a:solidFill>
              <a:srgbClr val="7B6F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303520" y="3291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Trainer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03520" y="36758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AFDF"/>
                </a:solidFill>
              </a:rPr>
              <a:t>Registerable · DietManageable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463040" y="4434840"/>
            <a:ext cx="1737360" cy="594360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463040" y="44348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MembershipType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0" y="4434840"/>
            <a:ext cx="1737360" cy="594360"/>
          </a:xfrm>
          <a:prstGeom prst="rect">
            <a:avLst/>
          </a:prstGeom>
          <a:solidFill>
            <a:srgbClr val="7B6FA0"/>
          </a:solidFill>
          <a:ln w="12700">
            <a:solidFill>
              <a:srgbClr val="7B6F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943600" y="44348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TrainerGrade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«enum»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20440" y="2880360"/>
            <a:ext cx="0" cy="185157"/>
          </a:xfrm>
          <a:prstGeom prst="line">
            <a:avLst/>
          </a:prstGeom>
          <a:noFill/>
          <a:ln w="19050">
            <a:solidFill>
              <a:srgbClr val="94D2BD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3520440" y="3291840"/>
            <a:ext cx="0" cy="0"/>
          </a:xfrm>
          <a:prstGeom prst="line">
            <a:avLst/>
          </a:prstGeom>
          <a:noFill/>
          <a:ln w="19050">
            <a:solidFill>
              <a:srgbClr val="94D2BD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5623560" y="2880360"/>
            <a:ext cx="0" cy="225797"/>
          </a:xfrm>
          <a:prstGeom prst="line">
            <a:avLst/>
          </a:prstGeom>
          <a:noFill/>
          <a:ln w="19050">
            <a:solidFill>
              <a:srgbClr val="B8AFDF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5623560" y="3106157"/>
            <a:ext cx="1143000" cy="0"/>
          </a:xfrm>
          <a:prstGeom prst="line">
            <a:avLst/>
          </a:prstGeom>
          <a:noFill/>
          <a:ln w="19050">
            <a:solidFill>
              <a:srgbClr val="B8AFDF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9">
            <a:extLst>
              <a:ext uri="{FF2B5EF4-FFF2-40B4-BE49-F238E27FC236}">
                <a16:creationId xmlns:a16="http://schemas.microsoft.com/office/drawing/2014/main" id="{A127771D-C75B-183F-30E3-D1D698CC168D}"/>
              </a:ext>
            </a:extLst>
          </p:cNvPr>
          <p:cNvSpPr/>
          <p:nvPr/>
        </p:nvSpPr>
        <p:spPr>
          <a:xfrm>
            <a:off x="6766560" y="3106157"/>
            <a:ext cx="0" cy="185683"/>
          </a:xfrm>
          <a:prstGeom prst="line">
            <a:avLst/>
          </a:prstGeom>
          <a:noFill/>
          <a:ln w="19050">
            <a:solidFill>
              <a:srgbClr val="B8AFDF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7">
            <a:extLst>
              <a:ext uri="{FF2B5EF4-FFF2-40B4-BE49-F238E27FC236}">
                <a16:creationId xmlns:a16="http://schemas.microsoft.com/office/drawing/2014/main" id="{D72A2EE3-2C35-2183-3216-50AF297197D5}"/>
              </a:ext>
            </a:extLst>
          </p:cNvPr>
          <p:cNvSpPr/>
          <p:nvPr/>
        </p:nvSpPr>
        <p:spPr>
          <a:xfrm flipH="1" flipV="1">
            <a:off x="2536030" y="3090673"/>
            <a:ext cx="984409" cy="0"/>
          </a:xfrm>
          <a:prstGeom prst="line">
            <a:avLst/>
          </a:prstGeom>
          <a:noFill/>
          <a:ln w="19050">
            <a:solidFill>
              <a:srgbClr val="94D2BD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7">
            <a:extLst>
              <a:ext uri="{FF2B5EF4-FFF2-40B4-BE49-F238E27FC236}">
                <a16:creationId xmlns:a16="http://schemas.microsoft.com/office/drawing/2014/main" id="{C2D85E36-8826-8D0E-0FF5-F5162992430D}"/>
              </a:ext>
            </a:extLst>
          </p:cNvPr>
          <p:cNvSpPr/>
          <p:nvPr/>
        </p:nvSpPr>
        <p:spPr>
          <a:xfrm>
            <a:off x="2536030" y="3106157"/>
            <a:ext cx="0" cy="185157"/>
          </a:xfrm>
          <a:prstGeom prst="line">
            <a:avLst/>
          </a:prstGeom>
          <a:noFill/>
          <a:ln w="19050">
            <a:solidFill>
              <a:srgbClr val="94D2BD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20040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주요 클래스 상세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14800" cy="4754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Member  (회원)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7647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9AA"/>
                </a:solidFill>
              </a:rPr>
              <a:t>상속 · 구현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9933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</a:rPr>
              <a:t>Person → Member  |  Registerable, Payable, FitnessEquipmentGuide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9AA"/>
                </a:solidFill>
              </a:rPr>
              <a:t>주요 필드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708353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▪ registrationDate  (등록일)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▪ expirationDate  (만료일)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▪ attendedToday  (출석 여부)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▪ membership  (회원권 종류)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3643123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9AA"/>
                </a:solidFill>
              </a:rPr>
              <a:t>주요 메서드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779470"/>
            <a:ext cx="3840480" cy="918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▪ register()  — 등록일 설정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▪ pay(months)  — 결제 및 만료일 갱신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▪ checkIn()  — 출석 처리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▪ explainEquipment()  — 기구 안내</a:t>
            </a:r>
            <a:endParaRPr lang="en-US" sz="1050" dirty="0"/>
          </a:p>
        </p:txBody>
      </p:sp>
      <p:sp>
        <p:nvSpPr>
          <p:cNvPr id="13" name="Shape 1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709160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709160" y="1051560"/>
            <a:ext cx="4114800" cy="475488"/>
          </a:xfrm>
          <a:prstGeom prst="rect">
            <a:avLst/>
          </a:prstGeom>
          <a:solidFill>
            <a:srgbClr val="7B6FA0"/>
          </a:solidFill>
          <a:ln w="12700">
            <a:solidFill>
              <a:srgbClr val="7B6F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800600" y="105156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Trainer  (트레이너)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00600" y="17647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9AA"/>
                </a:solidFill>
              </a:rPr>
              <a:t>상속 · 구현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9933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</a:rPr>
              <a:t>Person → Trainer  |  Registerable, DietManageable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2514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9AA"/>
                </a:solidFill>
              </a:rPr>
              <a:t>주요 필드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00600" y="2708353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▪ grade  (TrainerGrade 등급)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▪ managedMembers  (담당 회원 목록)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3643123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9AA"/>
                </a:solidFill>
              </a:rPr>
              <a:t>주요 메서드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00600" y="3633273"/>
            <a:ext cx="3840480" cy="12113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▪ register()  — 트레이너 등록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▪ addManagedMember()  — 담당 추가 · 자동 승급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▪ manageDiet()  — BMI 기반 식단 추천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▪ printAttendance()  — 출석 회원 확인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인터페이스 &amp; 열거형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20240" cy="2194560"/>
          </a:xfrm>
          <a:prstGeom prst="rect">
            <a:avLst/>
          </a:prstGeom>
          <a:solidFill>
            <a:srgbClr val="253558"/>
          </a:solidFill>
          <a:ln w="1905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920240" cy="3657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«interface»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D2BD"/>
                </a:solidFill>
              </a:rPr>
              <a:t>Registerable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register()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" y="248716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8899AA"/>
                </a:solidFill>
              </a:rPr>
              <a:t>등록</a:t>
            </a:r>
            <a:r>
              <a:rPr lang="en-US" sz="900" dirty="0">
                <a:solidFill>
                  <a:srgbClr val="8899AA"/>
                </a:solidFill>
              </a:rPr>
              <a:t> </a:t>
            </a:r>
            <a:r>
              <a:rPr lang="en-US" sz="900" dirty="0" err="1">
                <a:solidFill>
                  <a:srgbClr val="8899AA"/>
                </a:solidFill>
              </a:rPr>
              <a:t>기능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28346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D2BD"/>
                </a:solidFill>
              </a:rPr>
              <a:t>구현: Member, Trainer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41448" y="1097280"/>
            <a:ext cx="1920240" cy="2194560"/>
          </a:xfrm>
          <a:prstGeom prst="rect">
            <a:avLst/>
          </a:prstGeom>
          <a:solidFill>
            <a:srgbClr val="253558"/>
          </a:solidFill>
          <a:ln w="1905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441448" y="1097280"/>
            <a:ext cx="1920240" cy="3657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441448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«interface»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41448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D2BD"/>
                </a:solidFill>
              </a:rPr>
              <a:t>Payable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32888" y="2057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pay(months)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14600" y="248716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8899AA"/>
                </a:solidFill>
              </a:rPr>
              <a:t>결제</a:t>
            </a:r>
            <a:r>
              <a:rPr lang="en-US" sz="900" dirty="0">
                <a:solidFill>
                  <a:srgbClr val="8899AA"/>
                </a:solidFill>
              </a:rPr>
              <a:t> </a:t>
            </a:r>
            <a:r>
              <a:rPr lang="en-US" sz="900" dirty="0" err="1">
                <a:solidFill>
                  <a:srgbClr val="8899AA"/>
                </a:solidFill>
              </a:rPr>
              <a:t>기능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14600" y="28346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D2BD"/>
                </a:solidFill>
              </a:rPr>
              <a:t>구현: Member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08576" y="1097280"/>
            <a:ext cx="1920240" cy="2194560"/>
          </a:xfrm>
          <a:prstGeom prst="rect">
            <a:avLst/>
          </a:prstGeom>
          <a:solidFill>
            <a:srgbClr val="253558"/>
          </a:solidFill>
          <a:ln w="1905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608576" y="1097280"/>
            <a:ext cx="1920240" cy="3657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608576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«interface»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08576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D2BD"/>
                </a:solidFill>
              </a:rPr>
              <a:t>DietManageable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0016" y="2057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manageDiet(member)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81728" y="248716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8899AA"/>
                </a:solidFill>
              </a:rPr>
              <a:t>식단</a:t>
            </a:r>
            <a:r>
              <a:rPr lang="en-US" sz="900" dirty="0">
                <a:solidFill>
                  <a:srgbClr val="8899AA"/>
                </a:solidFill>
              </a:rPr>
              <a:t> </a:t>
            </a:r>
            <a:r>
              <a:rPr lang="en-US" sz="900" dirty="0" err="1">
                <a:solidFill>
                  <a:srgbClr val="8899AA"/>
                </a:solidFill>
              </a:rPr>
              <a:t>관리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81728" y="28346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D2BD"/>
                </a:solidFill>
              </a:rPr>
              <a:t>구현: Trainer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75704" y="1097280"/>
            <a:ext cx="1920240" cy="2194560"/>
          </a:xfrm>
          <a:prstGeom prst="rect">
            <a:avLst/>
          </a:prstGeom>
          <a:solidFill>
            <a:srgbClr val="253558"/>
          </a:solidFill>
          <a:ln w="1905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775704" y="1097280"/>
            <a:ext cx="1920240" cy="3657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775704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«interface»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75704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D2BD"/>
                </a:solidFill>
              </a:rPr>
              <a:t>FitnessEquipment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94D2BD"/>
                </a:solidFill>
              </a:rPr>
              <a:t>Guide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67144" y="2057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explainEquipment</a:t>
            </a:r>
            <a:b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(bodyPart)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48856" y="248716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8899AA"/>
                </a:solidFill>
              </a:rPr>
              <a:t>기구</a:t>
            </a:r>
            <a:r>
              <a:rPr lang="en-US" sz="900" dirty="0">
                <a:solidFill>
                  <a:srgbClr val="8899AA"/>
                </a:solidFill>
              </a:rPr>
              <a:t> </a:t>
            </a:r>
            <a:r>
              <a:rPr lang="en-US" sz="900" dirty="0" err="1">
                <a:solidFill>
                  <a:srgbClr val="8899AA"/>
                </a:solidFill>
              </a:rPr>
              <a:t>안내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48856" y="28346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D2BD"/>
                </a:solidFill>
              </a:rPr>
              <a:t>구현: Member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520440"/>
            <a:ext cx="8595360" cy="1417320"/>
          </a:xfrm>
          <a:prstGeom prst="rect">
            <a:avLst/>
          </a:prstGeom>
          <a:solidFill>
            <a:srgbClr val="253558"/>
          </a:solidFill>
          <a:ln w="19050">
            <a:solidFill>
              <a:srgbClr val="7B6F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5720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AFDF"/>
                </a:solidFill>
              </a:rPr>
              <a:t>TrainerGrade  «enumeration»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02920" y="4023360"/>
            <a:ext cx="1828800" cy="685800"/>
          </a:xfrm>
          <a:prstGeom prst="rect">
            <a:avLst/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0292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" y="4370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0 ~ 3명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06040" y="4023360"/>
            <a:ext cx="1828800" cy="685800"/>
          </a:xfrm>
          <a:prstGeom prst="rect">
            <a:avLst/>
          </a:prstGeom>
          <a:solidFill>
            <a:srgbClr val="0A9396">
              <a:alpha val="80000"/>
            </a:srgbClr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260604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JUNIOR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606040" y="4370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4 ~ 6명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4023360"/>
            <a:ext cx="1828800" cy="68580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470916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SENIOR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09160" y="4370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7 ~ 9명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812280" y="4023360"/>
            <a:ext cx="1828800" cy="685800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81228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MASTER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12280" y="4370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10명 이상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2920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8899AA"/>
                </a:solidFill>
              </a:rPr>
              <a:t>담당 회원 수 증가 시 자동 등급 승급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메뉴 구조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749040" y="1051560"/>
            <a:ext cx="164592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749040" y="10515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메인 메뉴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2651760" cy="1929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2651760" cy="4572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1. 회원 메뉴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2487168"/>
            <a:ext cx="242316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75488" y="24871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① 회원 등록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944368"/>
            <a:ext cx="242316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75488" y="29443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② 결제 (추가)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3401568"/>
            <a:ext cx="242316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5488" y="34015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③ 출석 체크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600200" y="1645920"/>
            <a:ext cx="0" cy="274320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291840" y="1920240"/>
            <a:ext cx="26517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291840" y="1920240"/>
            <a:ext cx="2651760" cy="457200"/>
          </a:xfrm>
          <a:prstGeom prst="rect">
            <a:avLst/>
          </a:prstGeom>
          <a:solidFill>
            <a:srgbClr val="7B6FA0"/>
          </a:solidFill>
          <a:ln w="12700">
            <a:solidFill>
              <a:srgbClr val="7B6F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38328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2. 트레이너 메뉴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01568" y="2487168"/>
            <a:ext cx="242316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493008" y="24871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① 트레이너 등록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01568" y="2944368"/>
            <a:ext cx="242316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493008" y="29443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② 담당 회원 추가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01568" y="3401568"/>
            <a:ext cx="242316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493008" y="34015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③ 정보 조회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01568" y="3858768"/>
            <a:ext cx="242316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493008" y="38587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④ 식단 관리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01568" y="4315968"/>
            <a:ext cx="242316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493008" y="43159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⑤ 출석 확인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1645920"/>
            <a:ext cx="0" cy="274320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6309360" y="1920240"/>
            <a:ext cx="2651760" cy="1929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309360" y="1920240"/>
            <a:ext cx="2651760" cy="457200"/>
          </a:xfrm>
          <a:prstGeom prst="rect">
            <a:avLst/>
          </a:prstGeom>
          <a:solidFill>
            <a:srgbClr val="E9A84C"/>
          </a:solidFill>
          <a:ln w="12700">
            <a:solidFill>
              <a:srgbClr val="E9A84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40080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3. 기구 안내 메뉴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19088" y="2487168"/>
            <a:ext cx="242316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510528" y="24871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① 상체 운동 기구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19088" y="2944368"/>
            <a:ext cx="242316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510528" y="29443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② 하체 운동 기구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19088" y="3401568"/>
            <a:ext cx="242316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510528" y="34015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③ 유산소 기구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635240" y="1645920"/>
            <a:ext cx="0" cy="274320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600200" y="1645920"/>
            <a:ext cx="6035040" cy="0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MembershipType &amp; 의존성 요약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14800" cy="457200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MembershipType  (회원권)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9AA"/>
                </a:solidFill>
              </a:rPr>
              <a:t>회원권 플랜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749040" cy="47548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74904" cy="475488"/>
          </a:xfrm>
          <a:prstGeom prst="rect">
            <a:avLst/>
          </a:prstGeom>
          <a:solidFill>
            <a:srgbClr val="0A9396">
              <a:alpha val="70000"/>
            </a:srgbClr>
          </a:solidFill>
          <a:ln w="12700">
            <a:solidFill>
              <a:srgbClr val="0A939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30352" y="19933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1개월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19933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ONE_MONTH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26080" y="199339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9396"/>
                </a:solidFill>
              </a:rPr>
              <a:t>100,000원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3749040" cy="47548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1012241" cy="475488"/>
          </a:xfrm>
          <a:prstGeom prst="rect">
            <a:avLst/>
          </a:prstGeom>
          <a:solidFill>
            <a:srgbClr val="0A9396">
              <a:alpha val="70000"/>
            </a:srgbClr>
          </a:solidFill>
          <a:ln w="12700">
            <a:solidFill>
              <a:srgbClr val="0A939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30352" y="25877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3개월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25877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THREE_MONTH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926080" y="258775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9396"/>
                </a:solidFill>
              </a:rPr>
              <a:t>270,000원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3749040" cy="47548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1874520" cy="475488"/>
          </a:xfrm>
          <a:prstGeom prst="rect">
            <a:avLst/>
          </a:prstGeom>
          <a:solidFill>
            <a:srgbClr val="0A9396">
              <a:alpha val="70000"/>
            </a:srgbClr>
          </a:solidFill>
          <a:ln w="12700">
            <a:solidFill>
              <a:srgbClr val="0A939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30352" y="318211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6개월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17320" y="318211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SIX_MONTH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26080" y="318211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9396"/>
                </a:solidFill>
              </a:rPr>
              <a:t>500,000원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703320"/>
            <a:ext cx="3749040" cy="47548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57200" y="3703320"/>
            <a:ext cx="3374136" cy="475488"/>
          </a:xfrm>
          <a:prstGeom prst="rect">
            <a:avLst/>
          </a:prstGeom>
          <a:solidFill>
            <a:srgbClr val="0A9396">
              <a:alpha val="70000"/>
            </a:srgbClr>
          </a:solidFill>
          <a:ln w="12700">
            <a:solidFill>
              <a:srgbClr val="0A939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30352" y="377647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12개월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17320" y="37764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TWELVE_MONTHS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926080" y="377647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9396"/>
                </a:solidFill>
              </a:rPr>
              <a:t>900,000원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709160" y="1051560"/>
            <a:ext cx="4114800" cy="457200"/>
          </a:xfrm>
          <a:prstGeom prst="rect">
            <a:avLst/>
          </a:prstGeom>
          <a:solidFill>
            <a:srgbClr val="253558"/>
          </a:solidFill>
          <a:ln w="12700">
            <a:solidFill>
              <a:srgbClr val="25355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800600" y="1051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의존성 요약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54880" y="1645920"/>
            <a:ext cx="3977640" cy="42062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828032" y="169164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0" y="169164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GymManager, Member, Trainer, MembershipType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2103120"/>
            <a:ext cx="3977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828032" y="214884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GymManager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17920" y="214884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Member, Trainer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2560320"/>
            <a:ext cx="3977640" cy="42062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828032" y="260604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17920" y="260604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Person, MembershipType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3017520"/>
            <a:ext cx="3977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4828032" y="306324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217920" y="306324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Person, Member, TrainerGrade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0" y="3474720"/>
            <a:ext cx="3977640" cy="42062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828032" y="352044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217920" y="352044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(없음 - 기반 클래스)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54880" y="3931920"/>
            <a:ext cx="3977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4828032" y="397764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MembershipType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217920" y="397764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(없음)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54880" y="4389120"/>
            <a:ext cx="3977640" cy="42062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4828032" y="443484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TrainerGrade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217920" y="443484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(없음 - Enum)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A9396">
              <a:alpha val="20000"/>
            </a:srgbClr>
          </a:solidFill>
          <a:ln w="12700">
            <a:solidFill>
              <a:srgbClr val="0A939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A9396">
              <a:alpha val="15000"/>
            </a:srgbClr>
          </a:solidFill>
          <a:ln w="12700">
            <a:solidFill>
              <a:srgbClr val="0A939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감사합니다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D2BD"/>
                </a:solidFill>
              </a:rPr>
              <a:t>AcornJavaGym — 헬스장 회원 관리 시스템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676</Words>
  <Application>Microsoft Office PowerPoint</Application>
  <PresentationFormat>화면 슬라이드 쇼(16:9)</PresentationFormat>
  <Paragraphs>193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AcornJavaGym - 헬스장 회원 관리 시스템</dc:title>
  <dc:subject>PptxGenJS Presentation</dc:subject>
  <dc:creator>PptxGenJS</dc:creator>
  <cp:lastModifiedBy>김재민</cp:lastModifiedBy>
  <cp:revision>4</cp:revision>
  <dcterms:created xsi:type="dcterms:W3CDTF">2026-03-27T01:08:14Z</dcterms:created>
  <dcterms:modified xsi:type="dcterms:W3CDTF">2026-03-27T01:21:15Z</dcterms:modified>
</cp:coreProperties>
</file>